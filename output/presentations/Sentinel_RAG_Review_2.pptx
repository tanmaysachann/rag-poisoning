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79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title and team names follow Presentation.pdf. This deck updates Review 1 material with V24 and V25 implementation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snapshot is an unlabeled lookup corpus, not millions of detector training rows. Holdout labels indicate original clean versus deterministic attacker-authored insertion.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Attacker controls retrieved passage text within a research corpus. They do not control the application system prompt or independently pinned operator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contains research controls. The RAG answer path uses separately selected and admitted benchmark sources; a public deployment needs an operational authentication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Warm-start source has 16,114 total labeled rows, of which 14,504 train and 1,610 validate. NQ source snapshot is not labeled training. PoisonArena has calibration and development splits detailed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screenshot is from the deployed home page captured during deck creation. It shows the V3 hashing validation research lab; it is a separate flow from V25 passage screening.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scanner status was available:true. Sample from GET /api/v24/sample was posted to /api/v25/scan. UI screenshot is the local FastAPI served standalone scanner; the decision panel on this slide is transcribed from the real API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120 NFCorpus test questions. Each has two original clean passages and five deterministic new-document attacks. Attack labels reflect construction, not factual adjudication.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seeds trained 200 episodes. The 75 validation questions were previously inspected. This is attacker RL. It is not a statistical superiority proof or protection against new inserted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literature: Lewis et al. 2020 RAG; Zou et al. 2024 PoisonedRAG. Dataset sources: official BEIR NQ, SciFact and NFCorpus archives; pinned PoisonArena and MS MARCO manifests. Internal result files named in slide footers.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rag-poisoning.vercel.app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75D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BMS COLLEGE OF ENGINEERING  •  DEPARTMENT OF CSE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7315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</a:t>
            </a:r>
            <a:endParaRPr lang="en-US" sz="5300" dirty="0"/>
          </a:p>
        </p:txBody>
      </p:sp>
      <p:sp>
        <p:nvSpPr>
          <p:cNvPr id="5" name="Text 3"/>
          <p:cNvSpPr/>
          <p:nvPr/>
        </p:nvSpPr>
        <p:spPr>
          <a:xfrm>
            <a:off x="676656" y="2258568"/>
            <a:ext cx="7452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8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Defending retrieval context against poisoned documents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32278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5D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2  •  October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" y="3931920"/>
            <a:ext cx="6757416" cy="0"/>
          </a:xfrm>
          <a:prstGeom prst="line">
            <a:avLst/>
          </a:prstGeom>
          <a:noFill/>
          <a:ln w="13970">
            <a:solidFill>
              <a:srgbClr val="4B6E83"/>
            </a:solidFill>
            <a:prstDash val="solid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76656" y="418795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Jawin Roys Fernandes   Jiya Gupta   Lakshya Khandelwal   Tanmay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FC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Dr. Adarsha Sagar H 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732520" y="1417320"/>
            <a:ext cx="2057400" cy="603504"/>
          </a:xfrm>
          <a:prstGeom prst="roundRect">
            <a:avLst>
              <a:gd name="adj" fmla="val 18182"/>
            </a:avLst>
          </a:prstGeom>
          <a:solidFill>
            <a:srgbClr val="C7474D"/>
          </a:solidFill>
          <a:ln w="10160">
            <a:solidFill>
              <a:srgbClr val="C74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42248" y="1581912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738360" y="2029968"/>
            <a:ext cx="411480" cy="356616"/>
          </a:xfrm>
          <a:prstGeom prst="line">
            <a:avLst/>
          </a:prstGeom>
          <a:noFill/>
          <a:ln w="25400">
            <a:solidFill>
              <a:srgbClr val="75D6D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89720" y="2432304"/>
            <a:ext cx="2057400" cy="603504"/>
          </a:xfrm>
          <a:prstGeom prst="roundRect">
            <a:avLst>
              <a:gd name="adj" fmla="val 18182"/>
            </a:avLst>
          </a:prstGeom>
          <a:solidFill>
            <a:srgbClr val="17639B"/>
          </a:solidFill>
          <a:ln w="10160">
            <a:solidFill>
              <a:srgbClr val="1763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9448" y="2596896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95560" y="3044952"/>
            <a:ext cx="411480" cy="356616"/>
          </a:xfrm>
          <a:prstGeom prst="line">
            <a:avLst/>
          </a:prstGeom>
          <a:noFill/>
          <a:ln w="25400">
            <a:solidFill>
              <a:srgbClr val="75D6D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32520" y="3447288"/>
            <a:ext cx="2057400" cy="603504"/>
          </a:xfrm>
          <a:prstGeom prst="roundRect">
            <a:avLst>
              <a:gd name="adj" fmla="val 18182"/>
            </a:avLst>
          </a:prstGeom>
          <a:solidFill>
            <a:srgbClr val="08A79F"/>
          </a:solidFill>
          <a:ln w="10160">
            <a:solidFill>
              <a:srgbClr val="08A7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42248" y="3611880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738360" y="4059936"/>
            <a:ext cx="411480" cy="356616"/>
          </a:xfrm>
          <a:prstGeom prst="line">
            <a:avLst/>
          </a:prstGeom>
          <a:noFill/>
          <a:ln w="25400">
            <a:solidFill>
              <a:srgbClr val="75D6D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89720" y="4462272"/>
            <a:ext cx="2057400" cy="603504"/>
          </a:xfrm>
          <a:prstGeom prst="roundRect">
            <a:avLst>
              <a:gd name="adj" fmla="val 18182"/>
            </a:avLst>
          </a:prstGeom>
          <a:solidFill>
            <a:srgbClr val="287A60"/>
          </a:solidFill>
          <a:ln w="10160">
            <a:solidFill>
              <a:srgbClr val="287A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4626864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2 at a glance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research system with measured behavior across multiple attack surfaces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README.md; V25_RESEARCH_RELEASE.md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1664208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2F7F9"/>
          </a:solidFill>
          <a:ln w="10160">
            <a:solidFill>
              <a:srgbClr val="F2F7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847088"/>
            <a:ext cx="1005840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860804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249424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lab and scanner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4672" y="2734056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attack workbench, source checks, reason codes, answer trace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27064" y="1664208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2F7F9"/>
          </a:solidFill>
          <a:ln w="10160">
            <a:solidFill>
              <a:srgbClr val="F2F7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1847088"/>
            <a:ext cx="1005840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860804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37376" y="2249424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14,504 + 1,855 rows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37376" y="2734056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NQ warm start followed by six-family PoisonArena fine-tuning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94360" y="37033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2F7F9"/>
          </a:solidFill>
          <a:ln w="10160">
            <a:solidFill>
              <a:srgbClr val="F2F7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886200"/>
            <a:ext cx="1005840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899916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4288536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2.68 million passages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4672" y="4773168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NQ source lookup index, separate from labeled training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27064" y="37033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2F7F9"/>
          </a:solidFill>
          <a:ln w="10160">
            <a:solidFill>
              <a:srgbClr val="F2F7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3886200"/>
            <a:ext cx="1005840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3899916"/>
            <a:ext cx="859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37376" y="4288536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 cases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37376" y="4773168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NFCorpus test: 600 synthetic insertions and 240 original clean passages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implemented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connected parts form the project delivered for review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README.md; PRODUCT_V24.md; DEPLOY_V25.md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773936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78508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62763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laboratory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60520" y="1627632"/>
            <a:ext cx="7059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overt and subtle poisoned passages; compares defended and undefended answers.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2569464"/>
            <a:ext cx="10698480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58368" y="2871216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75788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272491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and source checks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60520" y="2724912"/>
            <a:ext cx="7059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trained passage signals with containment and optional known-document hashes.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3666744"/>
            <a:ext cx="10698480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58368" y="3968496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973068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82219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attacker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60520" y="3822192"/>
            <a:ext cx="7059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edits retrieved passages against a frozen defender and reports matched baselines.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4764024"/>
            <a:ext cx="10698480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58368" y="5065776"/>
            <a:ext cx="338328" cy="338328"/>
          </a:xfrm>
          <a:prstGeom prst="ellipse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070348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0432" y="491947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delivery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60520" y="4919472"/>
            <a:ext cx="7059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manifests, case traces, holdout reports, FastAPI UI and two-service deployment bundle.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8368" y="5861304"/>
            <a:ext cx="10698480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retrieved document can become an attacker instruction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gives an answer model external text that may be relevant but untrusted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Presentation.pdf; README.md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3218688" cy="3273552"/>
          </a:xfrm>
          <a:prstGeom prst="roundRect">
            <a:avLst>
              <a:gd name="adj" fmla="val 2841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8366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2414016"/>
            <a:ext cx="26700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portrayed Rey?”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4480560" y="1627632"/>
            <a:ext cx="3182112" cy="3273552"/>
          </a:xfrm>
          <a:prstGeom prst="roundRect">
            <a:avLst>
              <a:gd name="adj" fmla="val 2874"/>
            </a:avLst>
          </a:prstGeom>
          <a:solidFill>
            <a:srgbClr val="F9ECEC"/>
          </a:solidFill>
          <a:ln w="10160">
            <a:solidFill>
              <a:srgbClr val="E9C9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88366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CONTROL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18304" y="2386584"/>
            <a:ext cx="2660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retrieved passage claims a false answer or impersonates system authority.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75320" y="1627632"/>
            <a:ext cx="3218688" cy="3273552"/>
          </a:xfrm>
          <a:prstGeom prst="roundRect">
            <a:avLst>
              <a:gd name="adj" fmla="val 2841"/>
            </a:avLst>
          </a:prstGeom>
          <a:solidFill>
            <a:srgbClr val="EAF3F6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18836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FAILURE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13064" y="2386584"/>
            <a:ext cx="2660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answerer may quote the poisoned passage with a plausible citation.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886200" y="3200400"/>
            <a:ext cx="539496" cy="0"/>
          </a:xfrm>
          <a:prstGeom prst="line">
            <a:avLst/>
          </a:prstGeom>
          <a:noFill/>
          <a:ln w="25400">
            <a:solidFill>
              <a:srgbClr val="17639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71816" y="3200400"/>
            <a:ext cx="557784" cy="0"/>
          </a:xfrm>
          <a:prstGeom prst="line">
            <a:avLst/>
          </a:prstGeom>
          <a:noFill/>
          <a:ln w="25400">
            <a:solidFill>
              <a:srgbClr val="17639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85800" y="5230368"/>
            <a:ext cx="10863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problem: screen suspect context and protect the answer path without discarding useful clean evidence.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trust surfaces behave differently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integrity hash answers when bytes changed, not whether the bytes were true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README.md; V24_RESEARCH_RELEASE.md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" y="1627632"/>
            <a:ext cx="5230368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627632"/>
            <a:ext cx="5230368" cy="64008"/>
          </a:xfrm>
          <a:prstGeom prst="rect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783080"/>
            <a:ext cx="48646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Edited after indexing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" y="2221992"/>
            <a:ext cx="4864608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changes a document after a clean snapshot is sealed. A known ID can be compared with its protected SHA-256. Mismatch triggers review.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2784" y="1627632"/>
            <a:ext cx="5230368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627632"/>
            <a:ext cx="5230368" cy="64008"/>
          </a:xfrm>
          <a:prstGeom prst="rect">
            <a:avLst/>
          </a:prstGeom>
          <a:solidFill>
            <a:srgbClr val="C7474D"/>
          </a:solidFill>
          <a:ln w="12700">
            <a:solidFill>
              <a:srgbClr val="C74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783080"/>
            <a:ext cx="48646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at ingest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55664" y="2221992"/>
            <a:ext cx="4864608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text enters before sealing or appears as a new document. Its digest can still verify. Detection and independent source admission are harder.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" y="5239512"/>
            <a:ext cx="2093976" cy="283464"/>
          </a:xfrm>
          <a:prstGeom prst="roundRect">
            <a:avLst>
              <a:gd name="adj" fmla="val 48387"/>
            </a:avLst>
          </a:prstGeom>
          <a:solidFill>
            <a:srgbClr val="EAF6F1"/>
          </a:solidFill>
          <a:ln w="10160">
            <a:solidFill>
              <a:srgbClr val="EAF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5253228"/>
            <a:ext cx="1947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CONTAIN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19672" y="5239512"/>
            <a:ext cx="2532888" cy="283464"/>
          </a:xfrm>
          <a:prstGeom prst="roundRect">
            <a:avLst>
              <a:gd name="adj" fmla="val 48387"/>
            </a:avLst>
          </a:prstGeom>
          <a:solidFill>
            <a:srgbClr val="F9ECEC"/>
          </a:solidFill>
          <a:ln w="10160">
            <a:solidFill>
              <a:srgbClr val="F9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2824" y="5253228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RESEARCH PROBLEM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measurable outcomes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question is tested across attack, detector and answer layers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TEST_PROTOCOL_V1.md; PRODUCT_V24.md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" y="1627632"/>
            <a:ext cx="523036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828800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833372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07592" y="1783080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poison enter top-k?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1307592" y="2377440"/>
            <a:ext cx="4352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rank and attack passage recall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45352" y="1627632"/>
            <a:ext cx="523036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828800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833372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85432" y="1783080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screening identify it?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6885432" y="2377440"/>
            <a:ext cx="4352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recall and clean false alarm rate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67512" y="3685032"/>
            <a:ext cx="523036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886200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890772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07592" y="3840480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defense protect the answer?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1307592" y="4434840"/>
            <a:ext cx="4352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wrong-answer success and clean-answer recovery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245352" y="3685032"/>
            <a:ext cx="523036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3886200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3890772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85432" y="3840480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adaptation reveal?</a:t>
            </a:r>
            <a:endParaRPr lang="en-US" sz="1820" dirty="0"/>
          </a:p>
        </p:txBody>
      </p:sp>
      <p:sp>
        <p:nvSpPr>
          <p:cNvPr id="28" name="Text 26"/>
          <p:cNvSpPr/>
          <p:nvPr/>
        </p:nvSpPr>
        <p:spPr>
          <a:xfrm>
            <a:off x="6885432" y="4434840"/>
            <a:ext cx="4352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success against matched fixed and random edit baselines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design joins three strands of RAG security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contribution is a tested system boundary, not a claim that one model solves poisoning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PRESENTATION_REFERENCES_READY.md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91640"/>
            <a:ext cx="3447288" cy="3547872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691640"/>
            <a:ext cx="3447288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847088"/>
            <a:ext cx="30815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2286000"/>
            <a:ext cx="3081528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et al. establish retrieve then generate. The retrieved text is an external evidence channel that affects the answer.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79976" y="1691640"/>
            <a:ext cx="3447288" cy="3547872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9976" y="1691640"/>
            <a:ext cx="3447288" cy="64008"/>
          </a:xfrm>
          <a:prstGeom prst="rect">
            <a:avLst/>
          </a:prstGeom>
          <a:solidFill>
            <a:srgbClr val="C7474D"/>
          </a:solidFill>
          <a:ln w="12700">
            <a:solidFill>
              <a:srgbClr val="C74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1847088"/>
            <a:ext cx="30815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 context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62856" y="2286000"/>
            <a:ext cx="3081528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PoisonedRAG and related studies show an attacker can corrupt retrieved knowledge or insert persuasive instructions.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101584" y="1691640"/>
            <a:ext cx="3447288" cy="3547872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1691640"/>
            <a:ext cx="3447288" cy="64008"/>
          </a:xfrm>
          <a:prstGeom prst="rect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1847088"/>
            <a:ext cx="30815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 study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84464" y="2286000"/>
            <a:ext cx="3081528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implement source checks, trained screening, adaptive edits and answer replay with frozen evaluation artifacts.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3232" y="5532120"/>
            <a:ext cx="10735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papers: Lewis et al. (2020), Zou et al. (2024), Zhang et al. (2025).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LEVEL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flow connects source admission, retrieval, screening and answer provenance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README.md; pipeline/v24_answer_gate.py; detect/product_v25.py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249424"/>
            <a:ext cx="1892808" cy="1618488"/>
          </a:xfrm>
          <a:prstGeom prst="roundRect">
            <a:avLst>
              <a:gd name="adj" fmla="val 5650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532888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CORPUS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777240" y="3008376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BEIR / demo docs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manifest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2578608" y="3063240"/>
            <a:ext cx="173736" cy="0"/>
          </a:xfrm>
          <a:prstGeom prst="line">
            <a:avLst/>
          </a:prstGeom>
          <a:noFill/>
          <a:ln w="2540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16352" y="2249424"/>
            <a:ext cx="1874520" cy="1618488"/>
          </a:xfrm>
          <a:prstGeom prst="roundRect">
            <a:avLst>
              <a:gd name="adj" fmla="val 5650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532888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2935224" y="3008376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dense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top passages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4718304" y="3063240"/>
            <a:ext cx="192024" cy="0"/>
          </a:xfrm>
          <a:prstGeom prst="line">
            <a:avLst/>
          </a:prstGeom>
          <a:noFill/>
          <a:ln w="2540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74336" y="2249424"/>
            <a:ext cx="1874520" cy="1618488"/>
          </a:xfrm>
          <a:prstGeom prst="roundRect">
            <a:avLst>
              <a:gd name="adj" fmla="val 5650"/>
            </a:avLst>
          </a:prstGeom>
          <a:solidFill>
            <a:srgbClr val="EAF3F6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4064" y="2532888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5093208" y="3008376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/ V24 / V25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checks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6876288" y="3063240"/>
            <a:ext cx="192024" cy="0"/>
          </a:xfrm>
          <a:prstGeom prst="line">
            <a:avLst/>
          </a:prstGeom>
          <a:noFill/>
          <a:ln w="2540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32320" y="2249424"/>
            <a:ext cx="1874520" cy="1618488"/>
          </a:xfrm>
          <a:prstGeom prst="roundRect">
            <a:avLst>
              <a:gd name="adj" fmla="val 5650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2532888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7251192" y="3008376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ID + hash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sources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9034272" y="3063240"/>
            <a:ext cx="192024" cy="0"/>
          </a:xfrm>
          <a:prstGeom prst="line">
            <a:avLst/>
          </a:prstGeom>
          <a:noFill/>
          <a:ln w="2540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90304" y="2249424"/>
            <a:ext cx="2221992" cy="1618488"/>
          </a:xfrm>
          <a:prstGeom prst="roundRect">
            <a:avLst>
              <a:gd name="adj" fmla="val 5650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0032" y="2532888"/>
            <a:ext cx="2002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+ AUDIT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9409176" y="3008376"/>
            <a:ext cx="1984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 span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+ abstain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1344168" y="4599432"/>
            <a:ext cx="3154680" cy="832104"/>
          </a:xfrm>
          <a:prstGeom prst="roundRect">
            <a:avLst>
              <a:gd name="adj" fmla="val 10989"/>
            </a:avLst>
          </a:prstGeom>
          <a:solidFill>
            <a:srgbClr val="F9ECEC"/>
          </a:solidFill>
          <a:ln w="10160">
            <a:solidFill>
              <a:srgbClr val="E9C9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47914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passage / PPO edits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999232" y="3877056"/>
            <a:ext cx="0" cy="704088"/>
          </a:xfrm>
          <a:prstGeom prst="line">
            <a:avLst/>
          </a:prstGeom>
          <a:noFill/>
          <a:ln w="21590">
            <a:solidFill>
              <a:srgbClr val="C7474D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7680960" y="4599432"/>
            <a:ext cx="3054096" cy="832104"/>
          </a:xfrm>
          <a:prstGeom prst="roundRect">
            <a:avLst>
              <a:gd name="adj" fmla="val 10989"/>
            </a:avLst>
          </a:prstGeom>
          <a:solidFill>
            <a:srgbClr val="EAF6F1"/>
          </a:solidFill>
          <a:ln w="10160">
            <a:solidFill>
              <a:srgbClr val="BBDC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4800600"/>
            <a:ext cx="2770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clean snapshot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57616" y="3877056"/>
            <a:ext cx="0" cy="704088"/>
          </a:xfrm>
          <a:prstGeom prst="line">
            <a:avLst/>
          </a:prstGeom>
          <a:noFill/>
          <a:ln w="21590">
            <a:solidFill>
              <a:srgbClr val="287A60"/>
            </a:solidFill>
            <a:prstDash val="solid"/>
            <a:tailEnd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to answer: six explicit decisions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leaves inspectable evidence instead of a single opaque risk label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pipeline/research_inference.py; pipeline/v24_answer_gate.py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4944" y="1691640"/>
            <a:ext cx="338328" cy="338328"/>
          </a:xfrm>
          <a:prstGeom prst="ellipse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696212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43584" y="1572768"/>
            <a:ext cx="4005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question and corpus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84648" y="1572768"/>
            <a:ext cx="604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attack index or pinned approved snapshot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694944" y="2212848"/>
            <a:ext cx="10680192" cy="0"/>
          </a:xfrm>
          <a:prstGeom prst="line">
            <a:avLst/>
          </a:prstGeom>
          <a:noFill/>
          <a:ln w="7620">
            <a:solidFill>
              <a:srgbClr val="C9D7DE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94944" y="2414016"/>
            <a:ext cx="338328" cy="338328"/>
          </a:xfrm>
          <a:prstGeom prst="ellipse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418588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2295144"/>
            <a:ext cx="4005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top passages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84648" y="2295144"/>
            <a:ext cx="604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and dense ranks fused with RRF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694944" y="2935224"/>
            <a:ext cx="10680192" cy="0"/>
          </a:xfrm>
          <a:prstGeom prst="line">
            <a:avLst/>
          </a:prstGeom>
          <a:noFill/>
          <a:ln w="7620">
            <a:solidFill>
              <a:srgbClr val="C9D7DE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94944" y="3136392"/>
            <a:ext cx="338328" cy="338328"/>
          </a:xfrm>
          <a:prstGeom prst="ellipse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140964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43584" y="3017520"/>
            <a:ext cx="4005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bytes and origin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84648" y="3017520"/>
            <a:ext cx="604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Manifest, known ID hash, source containment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694944" y="3657600"/>
            <a:ext cx="10680192" cy="0"/>
          </a:xfrm>
          <a:prstGeom prst="line">
            <a:avLst/>
          </a:prstGeom>
          <a:noFill/>
          <a:ln w="7620">
            <a:solidFill>
              <a:srgbClr val="C9D7DE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94944" y="3858768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863340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43584" y="3739896"/>
            <a:ext cx="4005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suspicious content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84648" y="3739896"/>
            <a:ext cx="604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V3 / V24 / V25 signals and reason codes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694944" y="4379976"/>
            <a:ext cx="10680192" cy="0"/>
          </a:xfrm>
          <a:prstGeom prst="line">
            <a:avLst/>
          </a:prstGeom>
          <a:noFill/>
          <a:ln w="7620">
            <a:solidFill>
              <a:srgbClr val="C9D7DE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94944" y="4581144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4585716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43584" y="4462272"/>
            <a:ext cx="4005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allowed evidence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84648" y="4462272"/>
            <a:ext cx="604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pass, recover from snapshot or abstain</a:t>
            </a:r>
            <a:endParaRPr lang="en-US" sz="1520" dirty="0"/>
          </a:p>
        </p:txBody>
      </p:sp>
      <p:sp>
        <p:nvSpPr>
          <p:cNvPr id="33" name="Shape 31"/>
          <p:cNvSpPr/>
          <p:nvPr/>
        </p:nvSpPr>
        <p:spPr>
          <a:xfrm>
            <a:off x="694944" y="5102352"/>
            <a:ext cx="10680192" cy="0"/>
          </a:xfrm>
          <a:prstGeom prst="line">
            <a:avLst/>
          </a:prstGeom>
          <a:noFill/>
          <a:ln w="7620">
            <a:solidFill>
              <a:srgbClr val="C9D7DE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694944" y="5303520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5308092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43584" y="5184648"/>
            <a:ext cx="4005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 answer and trace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84648" y="5184648"/>
            <a:ext cx="604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source span, comparison, stage timing, audit</a:t>
            </a:r>
            <a:endParaRPr lang="en-US" sz="1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dataset contributes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are passages or cases; question counts and roles prevent inflated training claims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PRODUCT_V24.md; V25_RESEARCH_RELEASE.md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10872216" cy="438912"/>
          </a:xfrm>
          <a:prstGeom prst="rect">
            <a:avLst/>
          </a:prstGeom>
          <a:solidFill>
            <a:srgbClr val="10283F"/>
          </a:solidFill>
          <a:ln w="10160">
            <a:solidFill>
              <a:srgbClr val="1028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69164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69164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24928" y="16916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2039112"/>
            <a:ext cx="10872216" cy="612648"/>
          </a:xfrm>
          <a:prstGeom prst="rect">
            <a:avLst/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5798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BEIR Natural Questions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114800" y="215798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14,504 train / 2,072 Q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24928" y="2157984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MiniLM warm start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2651760"/>
            <a:ext cx="10872216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7063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PoisonArena six-family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4114800" y="277063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1,855 train / 51 Q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24928" y="2770632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detector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3264408"/>
            <a:ext cx="10872216" cy="612648"/>
          </a:xfrm>
          <a:prstGeom prst="rect">
            <a:avLst/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38328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MARCO benchmark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4114800" y="338328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train + 75 validation Q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24928" y="338328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attacker and RAG replay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" y="3877056"/>
            <a:ext cx="10872216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95928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BEIR SciFact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4114800" y="399592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cases / 300 Q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24928" y="399592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transfer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" y="4489704"/>
            <a:ext cx="10872216" cy="612648"/>
          </a:xfrm>
          <a:prstGeom prst="rect">
            <a:avLst/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BEIR NFCorpus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4114800" y="460857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 cases / 120 Q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24928" y="460857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new-domain holdout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58368" y="5102352"/>
            <a:ext cx="10872216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522122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BEIR NQ corpus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4114800" y="522122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2,681,468 passages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424928" y="5221224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source lookup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DISCIPLINE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Question-level splits and frozen decisions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keep training, calibration, development and fresh holdout roles separate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data/multifamily_v20/manifest.json; results/v25_rule_frozen.json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76656" y="1938528"/>
            <a:ext cx="2532888" cy="2404872"/>
          </a:xfrm>
          <a:prstGeom prst="roundRect">
            <a:avLst>
              <a:gd name="adj" fmla="val 3802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311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questions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8620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1,855 rows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493008"/>
            <a:ext cx="2203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MiniLM and fusion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3236976" y="3063240"/>
            <a:ext cx="256032" cy="0"/>
          </a:xfrm>
          <a:prstGeom prst="line">
            <a:avLst/>
          </a:prstGeom>
          <a:noFill/>
          <a:ln w="2286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29584" y="1938528"/>
            <a:ext cx="2532888" cy="2404872"/>
          </a:xfrm>
          <a:prstGeom prst="roundRect">
            <a:avLst>
              <a:gd name="adj" fmla="val 3802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22311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questions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75888" y="28620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749 rows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94176" y="3493008"/>
            <a:ext cx="2203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thresholds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089904" y="3063240"/>
            <a:ext cx="256032" cy="0"/>
          </a:xfrm>
          <a:prstGeom prst="line">
            <a:avLst/>
          </a:prstGeom>
          <a:noFill/>
          <a:ln w="2286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82512" y="1938528"/>
            <a:ext cx="2532888" cy="2404872"/>
          </a:xfrm>
          <a:prstGeom prst="roundRect">
            <a:avLst>
              <a:gd name="adj" fmla="val 3802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22311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questions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28816" y="28620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1,066 rows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47104" y="3493008"/>
            <a:ext cx="2203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development errors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8942832" y="3063240"/>
            <a:ext cx="256032" cy="0"/>
          </a:xfrm>
          <a:prstGeom prst="line">
            <a:avLst/>
          </a:prstGeom>
          <a:noFill/>
          <a:ln w="2286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35440" y="1938528"/>
            <a:ext cx="2532888" cy="2404872"/>
          </a:xfrm>
          <a:prstGeom prst="roundRect">
            <a:avLst>
              <a:gd name="adj" fmla="val 3802"/>
            </a:avLst>
          </a:prstGeom>
          <a:solidFill>
            <a:srgbClr val="EAF6F1"/>
          </a:solidFill>
          <a:ln w="10160">
            <a:solidFill>
              <a:srgbClr val="B7DC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81744" y="22311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questions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81744" y="28620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 cases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00032" y="3493008"/>
            <a:ext cx="2203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NFCorpus first holdout score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969264" y="4992624"/>
            <a:ext cx="10314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V25 rule and input hashes were pinned before reading NFCorpus model scores.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270248" y="5687568"/>
            <a:ext cx="3721608" cy="283464"/>
          </a:xfrm>
          <a:prstGeom prst="roundRect">
            <a:avLst>
              <a:gd name="adj" fmla="val 48387"/>
            </a:avLst>
          </a:prstGeom>
          <a:solidFill>
            <a:srgbClr val="F9ECEC"/>
          </a:solidFill>
          <a:ln w="10160">
            <a:solidFill>
              <a:srgbClr val="F9E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5701284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LABELS ≠ FACTUAL VERDICTS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published poisoning families in fine-tuning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payloads target retrieval rank, authority cues and answer content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PRODUCT_V24.md; data/multifamily_v20/manifest.json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" y="1627632"/>
            <a:ext cx="3456432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627632"/>
            <a:ext cx="3456432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783080"/>
            <a:ext cx="3090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AdvDecoding</a:t>
            </a:r>
            <a:endParaRPr lang="en-US" sz="1730" dirty="0"/>
          </a:p>
        </p:txBody>
      </p:sp>
      <p:sp>
        <p:nvSpPr>
          <p:cNvPr id="12" name="Text 10"/>
          <p:cNvSpPr/>
          <p:nvPr/>
        </p:nvSpPr>
        <p:spPr>
          <a:xfrm>
            <a:off x="850392" y="2221992"/>
            <a:ext cx="30906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7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text to steer the answer</a:t>
            </a:r>
            <a:endParaRPr lang="en-US" sz="1470" dirty="0"/>
          </a:p>
        </p:txBody>
      </p:sp>
      <p:sp>
        <p:nvSpPr>
          <p:cNvPr id="13" name="Shape 11"/>
          <p:cNvSpPr/>
          <p:nvPr/>
        </p:nvSpPr>
        <p:spPr>
          <a:xfrm>
            <a:off x="4480560" y="1627632"/>
            <a:ext cx="3456432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627632"/>
            <a:ext cx="3456432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783080"/>
            <a:ext cx="3090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Poisoning</a:t>
            </a:r>
            <a:endParaRPr lang="en-US" sz="1730" dirty="0"/>
          </a:p>
        </p:txBody>
      </p:sp>
      <p:sp>
        <p:nvSpPr>
          <p:cNvPr id="16" name="Text 14"/>
          <p:cNvSpPr/>
          <p:nvPr/>
        </p:nvSpPr>
        <p:spPr>
          <a:xfrm>
            <a:off x="4663440" y="2221992"/>
            <a:ext cx="30906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7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factual content in a source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8293608" y="1627632"/>
            <a:ext cx="3456432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3608" y="1627632"/>
            <a:ext cx="3456432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6488" y="1783080"/>
            <a:ext cx="3090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Poisoning</a:t>
            </a:r>
            <a:endParaRPr lang="en-US" sz="1730" dirty="0"/>
          </a:p>
        </p:txBody>
      </p:sp>
      <p:sp>
        <p:nvSpPr>
          <p:cNvPr id="20" name="Text 18"/>
          <p:cNvSpPr/>
          <p:nvPr/>
        </p:nvSpPr>
        <p:spPr>
          <a:xfrm>
            <a:off x="8476488" y="2221992"/>
            <a:ext cx="30906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7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attack text in the collection</a:t>
            </a:r>
            <a:endParaRPr lang="en-US" sz="1470" dirty="0"/>
          </a:p>
        </p:txBody>
      </p:sp>
      <p:sp>
        <p:nvSpPr>
          <p:cNvPr id="21" name="Shape 19"/>
          <p:cNvSpPr/>
          <p:nvPr/>
        </p:nvSpPr>
        <p:spPr>
          <a:xfrm>
            <a:off x="667512" y="3657600"/>
            <a:ext cx="3456432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657600"/>
            <a:ext cx="3456432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813048"/>
            <a:ext cx="3090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</a:t>
            </a:r>
            <a:endParaRPr lang="en-US" sz="1730" dirty="0"/>
          </a:p>
        </p:txBody>
      </p:sp>
      <p:sp>
        <p:nvSpPr>
          <p:cNvPr id="24" name="Text 22"/>
          <p:cNvSpPr/>
          <p:nvPr/>
        </p:nvSpPr>
        <p:spPr>
          <a:xfrm>
            <a:off x="850392" y="4251960"/>
            <a:ext cx="30906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7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generated attack passages</a:t>
            </a:r>
            <a:endParaRPr lang="en-US" sz="1470" dirty="0"/>
          </a:p>
        </p:txBody>
      </p:sp>
      <p:sp>
        <p:nvSpPr>
          <p:cNvPr id="25" name="Shape 23"/>
          <p:cNvSpPr/>
          <p:nvPr/>
        </p:nvSpPr>
        <p:spPr>
          <a:xfrm>
            <a:off x="4480560" y="3657600"/>
            <a:ext cx="3456432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657600"/>
            <a:ext cx="3456432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13048"/>
            <a:ext cx="3090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GasLite</a:t>
            </a:r>
            <a:endParaRPr lang="en-US" sz="1730" dirty="0"/>
          </a:p>
        </p:txBody>
      </p:sp>
      <p:sp>
        <p:nvSpPr>
          <p:cNvPr id="28" name="Text 26"/>
          <p:cNvSpPr/>
          <p:nvPr/>
        </p:nvSpPr>
        <p:spPr>
          <a:xfrm>
            <a:off x="4663440" y="4251960"/>
            <a:ext cx="30906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7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Persuasive false evidence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8293608" y="3657600"/>
            <a:ext cx="3456432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3657600"/>
            <a:ext cx="3456432" cy="64008"/>
          </a:xfrm>
          <a:prstGeom prst="rect">
            <a:avLst/>
          </a:prstGeom>
          <a:solidFill>
            <a:srgbClr val="C7474D"/>
          </a:solidFill>
          <a:ln w="12700">
            <a:solidFill>
              <a:srgbClr val="C747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76488" y="3813048"/>
            <a:ext cx="3090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PoisonedRAG black box</a:t>
            </a:r>
            <a:endParaRPr lang="en-US" sz="1730" dirty="0"/>
          </a:p>
        </p:txBody>
      </p:sp>
      <p:sp>
        <p:nvSpPr>
          <p:cNvPr id="32" name="Text 30"/>
          <p:cNvSpPr/>
          <p:nvPr/>
        </p:nvSpPr>
        <p:spPr>
          <a:xfrm>
            <a:off x="8476488" y="4251960"/>
            <a:ext cx="30906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7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text without model internals</a:t>
            </a:r>
            <a:endParaRPr lang="en-US" sz="1470" dirty="0"/>
          </a:p>
        </p:txBody>
      </p:sp>
      <p:sp>
        <p:nvSpPr>
          <p:cNvPr id="33" name="Text 31"/>
          <p:cNvSpPr/>
          <p:nvPr/>
        </p:nvSpPr>
        <p:spPr>
          <a:xfrm>
            <a:off x="685800" y="5824728"/>
            <a:ext cx="10771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separate NFCorpus holdout uses five deterministic insertion templates, not these six published families.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APPROACH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trains the attacker to edit retrieved text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defender stays frozen inside each run; RL does not train the V25 scanner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poison/env.py; poison/policy.py; poison/ppo.py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3447288" cy="1993392"/>
          </a:xfrm>
          <a:prstGeom prst="roundRect">
            <a:avLst>
              <a:gd name="adj" fmla="val 4587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938528"/>
            <a:ext cx="987552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95224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6112" y="2487168"/>
            <a:ext cx="3026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774-value query and document observation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98848" y="1737360"/>
            <a:ext cx="3447288" cy="1993392"/>
          </a:xfrm>
          <a:prstGeom prst="roundRect">
            <a:avLst>
              <a:gd name="adj" fmla="val 4587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1938528"/>
            <a:ext cx="987552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195224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2487168"/>
            <a:ext cx="3026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operation, position and payload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11896" y="1737360"/>
            <a:ext cx="3447288" cy="1993392"/>
          </a:xfrm>
          <a:prstGeom prst="roundRect">
            <a:avLst>
              <a:gd name="adj" fmla="val 4587"/>
            </a:avLst>
          </a:prstGeom>
          <a:solidFill>
            <a:srgbClr val="EAF3F6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1938528"/>
            <a:ext cx="987552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7072" y="195224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22208" y="2487168"/>
            <a:ext cx="3026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validity, relevance, detector risk and terminal answer outcome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edits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478024" y="4279392"/>
            <a:ext cx="1490472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51176" y="429310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87952" y="4279392"/>
            <a:ext cx="1490472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1104" y="429310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97880" y="4279392"/>
            <a:ext cx="1490472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429310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SYNONYM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07808" y="4279392"/>
            <a:ext cx="1490472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429310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317736" y="4279392"/>
            <a:ext cx="1490472" cy="283464"/>
          </a:xfrm>
          <a:prstGeom prst="roundRect">
            <a:avLst>
              <a:gd name="adj" fmla="val 48387"/>
            </a:avLst>
          </a:prstGeom>
          <a:solidFill>
            <a:srgbClr val="F9ECEC"/>
          </a:solidFill>
          <a:ln w="10160">
            <a:solidFill>
              <a:srgbClr val="F9EC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0888" y="429310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3232" y="5102352"/>
            <a:ext cx="107533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success comes from actual local retrieval and an extractive RAG answer, not a text-only proxy.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training loop and matched baselines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 policy is evaluated against simpler attacks on the same questions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V24_RESEARCH_RELEASE.md; results/v24_ppo_multiseed.json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" y="1956816"/>
            <a:ext cx="2523744" cy="2002536"/>
          </a:xfrm>
          <a:prstGeom prst="roundRect">
            <a:avLst>
              <a:gd name="adj" fmla="val 4566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157984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162556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" y="2688336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+ clean passage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32104" y="322783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MS MARCO train questions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3246120" y="2962656"/>
            <a:ext cx="265176" cy="0"/>
          </a:xfrm>
          <a:prstGeom prst="line">
            <a:avLst/>
          </a:prstGeom>
          <a:noFill/>
          <a:ln w="2286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57016" y="1956816"/>
            <a:ext cx="2523744" cy="2002536"/>
          </a:xfrm>
          <a:prstGeom prst="roundRect">
            <a:avLst>
              <a:gd name="adj" fmla="val 4566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21608" y="2157984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2162556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21608" y="2688336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edit policy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721608" y="322783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operation, location, payload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6135624" y="2962656"/>
            <a:ext cx="265176" cy="0"/>
          </a:xfrm>
          <a:prstGeom prst="line">
            <a:avLst/>
          </a:prstGeom>
          <a:noFill/>
          <a:ln w="2286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1956816"/>
            <a:ext cx="2523744" cy="2002536"/>
          </a:xfrm>
          <a:prstGeom prst="roundRect">
            <a:avLst>
              <a:gd name="adj" fmla="val 4566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11112" y="2157984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2162556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2688336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defender replay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611112" y="322783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Retrieve, screen, answer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9025128" y="2962656"/>
            <a:ext cx="265176" cy="0"/>
          </a:xfrm>
          <a:prstGeom prst="line">
            <a:avLst/>
          </a:prstGeom>
          <a:noFill/>
          <a:ln w="2286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336024" y="1956816"/>
            <a:ext cx="2523744" cy="2002536"/>
          </a:xfrm>
          <a:prstGeom prst="roundRect">
            <a:avLst>
              <a:gd name="adj" fmla="val 4566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0616" y="2157984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2162556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0616" y="2688336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+ PPO update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00616" y="322783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Clipped objective and value losses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923544" y="4654296"/>
            <a:ext cx="10305288" cy="941832"/>
          </a:xfrm>
          <a:prstGeom prst="roundRect">
            <a:avLst>
              <a:gd name="adj" fmla="val 9709"/>
            </a:avLst>
          </a:prstGeom>
          <a:solidFill>
            <a:srgbClr val="10283F"/>
          </a:solidFill>
          <a:ln w="10160">
            <a:solidFill>
              <a:srgbClr val="1028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4837176"/>
            <a:ext cx="2167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5D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control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474720" y="4818888"/>
            <a:ext cx="7360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answer substitution and random edits use the same wrong-answer schedule.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V24 combines learned and pinned-source signals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branch emits its own reason so a reviewer can inspect the decision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PRODUCT_V24.md; detect/product_v22.py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3364992" cy="3401568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645920"/>
            <a:ext cx="3364992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801368"/>
            <a:ext cx="2999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fusion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" y="2240280"/>
            <a:ext cx="2999232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Reference-conditioned MiniLM, V3 behavioral risk, eight statistical signals and four clean-trained character fluency signals. Clean calibration sets the threshold.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07408" y="1645920"/>
            <a:ext cx="3364992" cy="3401568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645920"/>
            <a:ext cx="3364992" cy="64008"/>
          </a:xfrm>
          <a:prstGeom prst="rect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801368"/>
            <a:ext cx="2999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containment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288" y="2240280"/>
            <a:ext cx="2999232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a separately pinned corpus for changed near copies or an original source embedded inside longer attacker text.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47304" y="1645920"/>
            <a:ext cx="3364992" cy="3401568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7304" y="1645920"/>
            <a:ext cx="3364992" cy="64008"/>
          </a:xfrm>
          <a:prstGeom prst="rect">
            <a:avLst/>
          </a:prstGeom>
          <a:solidFill>
            <a:srgbClr val="D78230"/>
          </a:solidFill>
          <a:ln w="12700">
            <a:solidFill>
              <a:srgbClr val="D782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1801368"/>
            <a:ext cx="2999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ID integrity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30184" y="2240280"/>
            <a:ext cx="2999232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exact SHA-256 mismatch for a document ID whose expected digest was pinned independently before attack.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18688" y="5358384"/>
            <a:ext cx="5779008" cy="484632"/>
          </a:xfrm>
          <a:prstGeom prst="roundRect">
            <a:avLst>
              <a:gd name="adj" fmla="val 18868"/>
            </a:avLst>
          </a:prstGeom>
          <a:solidFill>
            <a:srgbClr val="10283F"/>
          </a:solidFill>
          <a:ln w="10160">
            <a:solidFill>
              <a:srgbClr val="1028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5468112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flagged branch requests REVIEW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SCANNER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V25 adds a frozen reference-adaptive decision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was fixed before the first NFCorpus holdout score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results/v25_rule_frozen.json; detect/product_v25.py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581912"/>
            <a:ext cx="10808208" cy="749808"/>
          </a:xfrm>
          <a:prstGeom prst="roundRect">
            <a:avLst>
              <a:gd name="adj" fmla="val 12195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792224"/>
            <a:ext cx="548640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805940"/>
            <a:ext cx="402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82496" y="1755648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containment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937760" y="1755648"/>
            <a:ext cx="6089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or embedded source changed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532888"/>
            <a:ext cx="10808208" cy="749808"/>
          </a:xfrm>
          <a:prstGeom prst="roundRect">
            <a:avLst>
              <a:gd name="adj" fmla="val 12195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743200"/>
            <a:ext cx="548640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756916"/>
            <a:ext cx="402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2496" y="2706624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ID mismatch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37760" y="2706624"/>
            <a:ext cx="6089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expected SHA-256 differs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483864"/>
            <a:ext cx="10808208" cy="749808"/>
          </a:xfrm>
          <a:prstGeom prst="roundRect">
            <a:avLst>
              <a:gd name="adj" fmla="val 12195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694176"/>
            <a:ext cx="548640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707892"/>
            <a:ext cx="402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82496" y="3657600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behavioral risk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937760" y="3657600"/>
            <a:ext cx="6089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at least 0.75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808208" cy="749808"/>
          </a:xfrm>
          <a:prstGeom prst="roundRect">
            <a:avLst>
              <a:gd name="adj" fmla="val 12195"/>
            </a:avLst>
          </a:prstGeom>
          <a:solidFill>
            <a:srgbClr val="EAF3F6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645152"/>
            <a:ext cx="548640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658868"/>
            <a:ext cx="402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82496" y="4608576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fusion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4937760" y="4608576"/>
            <a:ext cx="6089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V24 score at least 4.272 and 0.5 above reference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" y="5715000"/>
            <a:ext cx="10762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= REVIEW if any branch fires. The supplied reference must be independently authenticated.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SAFETY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and source admission protect different things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path has a separate policy from a scanner pass or review label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pipeline/v24_answer_gate.py; V24_RESEARCH_RELEASE.md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32688" y="1591056"/>
            <a:ext cx="3063240" cy="630936"/>
          </a:xfrm>
          <a:prstGeom prst="roundRect">
            <a:avLst>
              <a:gd name="adj" fmla="val 14493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55648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PASSAGE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34256" y="1709928"/>
            <a:ext cx="6729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be clean, altered or newly inserted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468880" y="2249424"/>
            <a:ext cx="0" cy="164592"/>
          </a:xfrm>
          <a:prstGeom prst="line">
            <a:avLst/>
          </a:prstGeom>
          <a:noFill/>
          <a:ln w="1905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2688" y="2459736"/>
            <a:ext cx="3063240" cy="630936"/>
          </a:xfrm>
          <a:prstGeom prst="roundRect">
            <a:avLst>
              <a:gd name="adj" fmla="val 14493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24328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34256" y="2578608"/>
            <a:ext cx="6729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V24 risk + containment + known ID hash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468880" y="3118104"/>
            <a:ext cx="0" cy="164592"/>
          </a:xfrm>
          <a:prstGeom prst="line">
            <a:avLst/>
          </a:prstGeom>
          <a:noFill/>
          <a:ln w="1905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" y="3328416"/>
            <a:ext cx="3063240" cy="630936"/>
          </a:xfrm>
          <a:prstGeom prst="roundRect">
            <a:avLst>
              <a:gd name="adj" fmla="val 14493"/>
            </a:avLst>
          </a:prstGeom>
          <a:solidFill>
            <a:srgbClr val="EAF6F1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493008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8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334256" y="3447288"/>
            <a:ext cx="6729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passing passages from approved snapshot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468880" y="3986784"/>
            <a:ext cx="0" cy="164592"/>
          </a:xfrm>
          <a:prstGeom prst="line">
            <a:avLst/>
          </a:prstGeom>
          <a:noFill/>
          <a:ln w="1905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32688" y="4197096"/>
            <a:ext cx="3063240" cy="630936"/>
          </a:xfrm>
          <a:prstGeom prst="roundRect">
            <a:avLst>
              <a:gd name="adj" fmla="val 14493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361688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34256" y="4315968"/>
            <a:ext cx="6729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exact span or recover from pinned clean corpus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468880" y="4855464"/>
            <a:ext cx="0" cy="164592"/>
          </a:xfrm>
          <a:prstGeom prst="line">
            <a:avLst/>
          </a:prstGeom>
          <a:noFill/>
          <a:ln w="1905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32688" y="5065776"/>
            <a:ext cx="3063240" cy="630936"/>
          </a:xfrm>
          <a:prstGeom prst="roundRect">
            <a:avLst>
              <a:gd name="adj" fmla="val 14493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5230368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ABSTAIN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334256" y="5184648"/>
            <a:ext cx="6729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evidence does not satisfy the policy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315968" y="5934456"/>
            <a:ext cx="3593592" cy="283464"/>
          </a:xfrm>
          <a:prstGeom prst="roundRect">
            <a:avLst>
              <a:gd name="adj" fmla="val 48387"/>
            </a:avLst>
          </a:prstGeom>
          <a:solidFill>
            <a:srgbClr val="F9ECEC"/>
          </a:solidFill>
          <a:ln w="10160">
            <a:solidFill>
              <a:srgbClr val="F9EC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5948172"/>
            <a:ext cx="3447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 digest proves identity, not truth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services keep the research console responsive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scanner bundle carries pinned models and corpus lookup assets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DEPLOY_V25.md; backend/api.py; backend/v25_service.py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04088" y="1700784"/>
            <a:ext cx="4992624" cy="3438144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1700784"/>
            <a:ext cx="4992624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856232"/>
            <a:ext cx="4626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and FastAPI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" y="2295144"/>
            <a:ext cx="46268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lab, five-case demo, answer replay, architecture and scanner UI. The site API proxies scanner requests and serves saved evidence.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83096" y="1700784"/>
            <a:ext cx="4992624" cy="3438144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3096" y="1700784"/>
            <a:ext cx="4992624" cy="64008"/>
          </a:xfrm>
          <a:prstGeom prst="rect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5976" y="1856232"/>
            <a:ext cx="4626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V25 scanner container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65976" y="2295144"/>
            <a:ext cx="46268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frozen V25 rule, V24 baseline, trained artifacts and a 2.68M-passage FTS5 snapshot built from a verified BEIR archive.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751576" y="3346704"/>
            <a:ext cx="667512" cy="0"/>
          </a:xfrm>
          <a:prstGeom prst="line">
            <a:avLst/>
          </a:prstGeom>
          <a:noFill/>
          <a:ln w="25400">
            <a:solidFill>
              <a:srgbClr val="08A79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58952" y="5522976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contracts: GET status/evidence; POST scan with query, reference, candidate and optional expected hash.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SCREENSHOT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lab: an editable attack reaches a traceable answer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of the running project research console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from https://rag-poisoning.vercel.app/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50" dirty="0"/>
          </a:p>
        </p:txBody>
      </p:sp>
      <p:pic>
        <p:nvPicPr>
          <p:cNvPr id="9" name="Image 0" descr="C:\Users\tanma\OneDrive\Desktop\Major Project\rag-poisoning\tmp\review2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527048"/>
            <a:ext cx="8092440" cy="4736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97112" y="1664208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97112" y="1668780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326880" y="1609344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validation question, attack family and trust surface</a:t>
            </a:r>
            <a:endParaRPr lang="en-US" sz="1520" dirty="0"/>
          </a:p>
        </p:txBody>
      </p:sp>
      <p:sp>
        <p:nvSpPr>
          <p:cNvPr id="13" name="Shape 10"/>
          <p:cNvSpPr/>
          <p:nvPr/>
        </p:nvSpPr>
        <p:spPr>
          <a:xfrm>
            <a:off x="8897112" y="2871216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97112" y="2875788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26880" y="2816352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temporary retrieval and compare answer paths</a:t>
            </a:r>
            <a:endParaRPr lang="en-US" sz="1520" dirty="0"/>
          </a:p>
        </p:txBody>
      </p:sp>
      <p:sp>
        <p:nvSpPr>
          <p:cNvPr id="16" name="Shape 13"/>
          <p:cNvSpPr/>
          <p:nvPr/>
        </p:nvSpPr>
        <p:spPr>
          <a:xfrm>
            <a:off x="8897112" y="4087368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97112" y="4091940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326880" y="4032504"/>
            <a:ext cx="2249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retrieved passages, risk and source trace</a:t>
            </a:r>
            <a:endParaRPr lang="en-US" sz="15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SCREENSHOT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V25 scanner: model-ready UI and inspectable reason codes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 API call returned REVIEW through reference-relative fusion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FastAPI capture; POST /api/v25/scan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pic>
        <p:nvPicPr>
          <p:cNvPr id="9" name="Image 0" descr="C:\Users\tanma\OneDrive\Desktop\Major Project\rag-poisoning\tmp\review2_scanner_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545336"/>
            <a:ext cx="7982712" cy="47000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05672" y="1581912"/>
            <a:ext cx="2706624" cy="4517136"/>
          </a:xfrm>
          <a:prstGeom prst="roundRect">
            <a:avLst>
              <a:gd name="adj" fmla="val 3378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034272" y="1856232"/>
            <a:ext cx="1920240" cy="283464"/>
          </a:xfrm>
          <a:prstGeom prst="roundRect">
            <a:avLst>
              <a:gd name="adj" fmla="val 48387"/>
            </a:avLst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07424" y="186994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LOCAL SCAN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034272" y="2322576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034272" y="299008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fusion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034272" y="3291840"/>
            <a:ext cx="2212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5.37 ≥ 4.27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034272" y="378561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reference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034272" y="4069080"/>
            <a:ext cx="2212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+4.06 ≥ +0.50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9034272" y="4681728"/>
            <a:ext cx="22128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risk 0.646 &lt; 0.75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branch: pass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hash: absent</a:t>
            </a:r>
            <a:endParaRPr lang="en-US" sz="14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CHECKPOINT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attack should a hash catch?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altered answer text; only the timing of admission changes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README.md; DEMO_SCRIPT.md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5230368" cy="3172968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828800"/>
            <a:ext cx="5230368" cy="64008"/>
          </a:xfrm>
          <a:prstGeom prst="rect">
            <a:avLst/>
          </a:prstGeom>
          <a:solidFill>
            <a:srgbClr val="C7474D"/>
          </a:solidFill>
          <a:ln w="12700">
            <a:solidFill>
              <a:srgbClr val="C74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84248"/>
            <a:ext cx="48646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•  Accepted before sealing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423160"/>
            <a:ext cx="486460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includes the altered passage when the corpus snapshot is pinned. The SHA-256 now matches that text.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72784" y="1828800"/>
            <a:ext cx="5230368" cy="3172968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828800"/>
            <a:ext cx="5230368" cy="64008"/>
          </a:xfrm>
          <a:prstGeom prst="rect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984248"/>
            <a:ext cx="48646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•  Edited after sealing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55664" y="2423160"/>
            <a:ext cx="486460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sealed the clean bytes first. The attacker later edits the known document ID.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2416" y="544068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panel to predict which path produces an integrity mismatch. Reveal on the next slide.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hash blocks later edits but can accept false content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protects a trusted snapshot boundary; it cannot supply a truth judgment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DEMO_SCRIPT.md; PRODUCT_V24.md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636776"/>
            <a:ext cx="5221224" cy="3547872"/>
          </a:xfrm>
          <a:prstGeom prst="roundRect">
            <a:avLst>
              <a:gd name="adj" fmla="val 2577"/>
            </a:avLst>
          </a:prstGeom>
          <a:solidFill>
            <a:srgbClr val="F9ECEC"/>
          </a:solidFill>
          <a:ln w="10160">
            <a:solidFill>
              <a:srgbClr val="E6C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01952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•  ACCEPTED AT INGEST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642616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 matches the already altered source.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3410712"/>
            <a:ext cx="4462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detector and admission policy must handle this risk.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81928" y="1636776"/>
            <a:ext cx="5221224" cy="3547872"/>
          </a:xfrm>
          <a:prstGeom prst="roundRect">
            <a:avLst>
              <a:gd name="adj" fmla="val 2577"/>
            </a:avLst>
          </a:prstGeom>
          <a:solidFill>
            <a:srgbClr val="EAF6F1"/>
          </a:solidFill>
          <a:ln w="10160">
            <a:solidFill>
              <a:srgbClr val="B5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9019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8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•  EDITED AFTER INDEXING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10528" y="2642616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document hash mismatches.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10528" y="3410712"/>
            <a:ext cx="44622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passage is quarantined against the pre-attack manifest.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78808" y="5559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to the checkpoint: B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 injection is easier than fluent answer substitution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frozen first test exposes the difference in attack style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TEST_EVIDENCE_V1.json; SLIDE_CORRECTIONS.md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04088" y="1783080"/>
            <a:ext cx="10753344" cy="1426464"/>
          </a:xfrm>
          <a:prstGeom prst="roundRect">
            <a:avLst>
              <a:gd name="adj" fmla="val 6410"/>
            </a:avLst>
          </a:prstGeom>
          <a:solidFill>
            <a:srgbClr val="EAF6F1"/>
          </a:solidFill>
          <a:ln w="10160">
            <a:solidFill>
              <a:srgbClr val="B5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984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insertion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224528" y="19842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2313432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75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06440" y="1984248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313432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75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24928" y="23042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/ 75 quarantined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704088" y="3557016"/>
            <a:ext cx="10753344" cy="1426464"/>
          </a:xfrm>
          <a:prstGeom prst="roundRect">
            <a:avLst>
              <a:gd name="adj" fmla="val 6410"/>
            </a:avLst>
          </a:prstGeom>
          <a:solidFill>
            <a:srgbClr val="F9ECEC"/>
          </a:solidFill>
          <a:ln w="10160">
            <a:solidFill>
              <a:srgbClr val="E6C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7581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Stealth substitution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224528" y="37581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24528" y="408736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75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06440" y="3758184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06440" y="408736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75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4928" y="40782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75 quarantined</a:t>
            </a:r>
            <a:endParaRPr lang="en-US" sz="1620" dirty="0"/>
          </a:p>
        </p:txBody>
      </p:sp>
      <p:sp>
        <p:nvSpPr>
          <p:cNvPr id="23" name="Text 21"/>
          <p:cNvSpPr/>
          <p:nvPr/>
        </p:nvSpPr>
        <p:spPr>
          <a:xfrm>
            <a:off x="804672" y="5751576"/>
            <a:ext cx="10579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75-question MiniLM + sentence-ranker sealed test. Counts are wrong-answer successes.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known-document identity rule stops adapted PPO edits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applies when the operator pinned the clean ID-to-hash map before attack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results/v24_ppo_multiseed.json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1746504"/>
            <a:ext cx="3282696" cy="3227832"/>
          </a:xfrm>
          <a:prstGeom prst="roundRect">
            <a:avLst>
              <a:gd name="adj" fmla="val 2833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02536"/>
            <a:ext cx="2898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16152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55/75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1234440" y="3209544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V23 defended success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5296" y="3776472"/>
            <a:ext cx="28986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8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0/75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25296" y="431596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text, V24 known ID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4800600" y="1746504"/>
            <a:ext cx="3282696" cy="3227832"/>
          </a:xfrm>
          <a:prstGeom prst="roundRect">
            <a:avLst>
              <a:gd name="adj" fmla="val 2833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4336" y="2002536"/>
            <a:ext cx="2898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65192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60/75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4983480" y="3209544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V23 defended success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74336" y="3776472"/>
            <a:ext cx="28986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8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0/75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4974336" y="431596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text, V24 known ID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8549640" y="1746504"/>
            <a:ext cx="3282696" cy="3227832"/>
          </a:xfrm>
          <a:prstGeom prst="roundRect">
            <a:avLst>
              <a:gd name="adj" fmla="val 2833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23376" y="2002536"/>
            <a:ext cx="2898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14232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62/75</a:t>
            </a:r>
            <a:endParaRPr lang="en-US" sz="3500" dirty="0"/>
          </a:p>
        </p:txBody>
      </p:sp>
      <p:sp>
        <p:nvSpPr>
          <p:cNvPr id="24" name="Text 22"/>
          <p:cNvSpPr/>
          <p:nvPr/>
        </p:nvSpPr>
        <p:spPr>
          <a:xfrm>
            <a:off x="8732520" y="3209544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V23 defended success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23376" y="3776472"/>
            <a:ext cx="28986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8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0/75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8723376" y="431596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text, V24 known ID</a:t>
            </a:r>
            <a:endParaRPr lang="en-US" sz="1330" dirty="0"/>
          </a:p>
        </p:txBody>
      </p:sp>
      <p:sp>
        <p:nvSpPr>
          <p:cNvPr id="27" name="Shape 25"/>
          <p:cNvSpPr/>
          <p:nvPr/>
        </p:nvSpPr>
        <p:spPr>
          <a:xfrm>
            <a:off x="2953512" y="5568696"/>
            <a:ext cx="6309360" cy="283464"/>
          </a:xfrm>
          <a:prstGeom prst="roundRect">
            <a:avLst>
              <a:gd name="adj" fmla="val 48387"/>
            </a:avLst>
          </a:prstGeom>
          <a:solidFill>
            <a:srgbClr val="F9ECEC"/>
          </a:solidFill>
          <a:ln w="10160">
            <a:solidFill>
              <a:srgbClr val="F9EC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26664" y="5582412"/>
            <a:ext cx="6163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LIMIT: NEW INSERTED DOCUMENTS HAVE NO EXPECTED ID HASH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PROTOCOL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artifacts make the claims auditable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metric is reported with its data source, split, threshold and case trace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PRODUCT_V24.md; V25_RESEARCH_RELEASE.md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4944" y="1664208"/>
            <a:ext cx="5193792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664208"/>
            <a:ext cx="5193792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819656"/>
            <a:ext cx="4828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" y="22585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Question-disjoint splits and pinned upstream archives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27064" y="1664208"/>
            <a:ext cx="5193792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1664208"/>
            <a:ext cx="5193792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1819656"/>
            <a:ext cx="4828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9944" y="22585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Checkpoint, calibration and decision-rule hashes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4944" y="3657600"/>
            <a:ext cx="5193792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3657600"/>
            <a:ext cx="5193792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813048"/>
            <a:ext cx="4828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7824" y="4251960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Per-case source label, score and reason codes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27064" y="3657600"/>
            <a:ext cx="5193792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27064" y="3657600"/>
            <a:ext cx="5193792" cy="64008"/>
          </a:xfrm>
          <a:prstGeom prst="rect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3813048"/>
            <a:ext cx="4828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9944" y="4251960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recall, clean flags and answer outcomes kept separate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6384" y="5769864"/>
            <a:ext cx="10543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7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NFCorpus scored once after freezing the V25 rule. Earlier PoisonArena and SciFact results informed that rule.</a:t>
            </a:r>
            <a:endParaRPr lang="en-US" sz="15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RESULT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V24 catches 534 of 755 published attack passages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PoisonArena development questions had already been inspected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results/product_v24.json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4944" y="1673352"/>
            <a:ext cx="4270248" cy="4389120"/>
          </a:xfrm>
          <a:prstGeom prst="roundRect">
            <a:avLst>
              <a:gd name="adj" fmla="val 2141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57400"/>
            <a:ext cx="3584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70.7%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978408" y="3044952"/>
            <a:ext cx="3675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534 / 755 attacks flagged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9264" y="3767328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311 clean flagged (2.9%)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8408" y="51023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result, not blind transfer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12664" y="1847088"/>
            <a:ext cx="2503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PoisonedRAG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16657" y="1897380"/>
            <a:ext cx="2563612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6657" y="1897380"/>
            <a:ext cx="2563612" cy="109728"/>
          </a:xfrm>
          <a:prstGeom prst="rect">
            <a:avLst/>
          </a:prstGeom>
          <a:solidFill>
            <a:srgbClr val="17639B"/>
          </a:solidFill>
          <a:ln w="10160">
            <a:solidFill>
              <a:srgbClr val="1763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99507" y="1847088"/>
            <a:ext cx="7750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145/145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12664" y="2505456"/>
            <a:ext cx="2503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Poison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816657" y="2555748"/>
            <a:ext cx="2563612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6657" y="2555748"/>
            <a:ext cx="2307251" cy="109728"/>
          </a:xfrm>
          <a:prstGeom prst="rect">
            <a:avLst/>
          </a:prstGeom>
          <a:solidFill>
            <a:srgbClr val="17639B"/>
          </a:solidFill>
          <a:ln w="10160">
            <a:solidFill>
              <a:srgbClr val="1763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99507" y="2505456"/>
            <a:ext cx="7750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27/30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12664" y="3163824"/>
            <a:ext cx="2503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816657" y="3214116"/>
            <a:ext cx="2563612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6657" y="3214116"/>
            <a:ext cx="1997849" cy="109728"/>
          </a:xfrm>
          <a:prstGeom prst="rect">
            <a:avLst/>
          </a:prstGeom>
          <a:solidFill>
            <a:srgbClr val="17639B"/>
          </a:solidFill>
          <a:ln w="10160">
            <a:solidFill>
              <a:srgbClr val="1763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99507" y="3163824"/>
            <a:ext cx="7750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113/145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312664" y="3822192"/>
            <a:ext cx="2503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GasLite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816657" y="3872484"/>
            <a:ext cx="2563612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6657" y="3872484"/>
            <a:ext cx="1962489" cy="109728"/>
          </a:xfrm>
          <a:prstGeom prst="rect">
            <a:avLst/>
          </a:prstGeom>
          <a:solidFill>
            <a:srgbClr val="17639B"/>
          </a:solidFill>
          <a:ln w="10160">
            <a:solidFill>
              <a:srgbClr val="1763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99507" y="3822192"/>
            <a:ext cx="7750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111/145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312664" y="4480560"/>
            <a:ext cx="2503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Poison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816657" y="4530852"/>
            <a:ext cx="2563612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6657" y="4530852"/>
            <a:ext cx="1679608" cy="109728"/>
          </a:xfrm>
          <a:prstGeom prst="rect">
            <a:avLst/>
          </a:prstGeom>
          <a:solidFill>
            <a:srgbClr val="17639B"/>
          </a:solidFill>
          <a:ln w="10160">
            <a:solidFill>
              <a:srgbClr val="1763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99507" y="4480560"/>
            <a:ext cx="7750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95/145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312664" y="5138928"/>
            <a:ext cx="2503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AdvDecoding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816657" y="5189220"/>
            <a:ext cx="2563612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6657" y="5189220"/>
            <a:ext cx="760244" cy="109728"/>
          </a:xfrm>
          <a:prstGeom prst="rect">
            <a:avLst/>
          </a:prstGeom>
          <a:solidFill>
            <a:srgbClr val="C7474D"/>
          </a:solidFill>
          <a:ln w="10160">
            <a:solidFill>
              <a:srgbClr val="C747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99507" y="5138928"/>
            <a:ext cx="7750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43/145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CHECK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SciFact exposed a large cross-domain drop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frozen V24 threshold flagged many clean original abstracts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results/v24_blind_scifact.json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3232" y="1728216"/>
            <a:ext cx="509320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728216"/>
            <a:ext cx="5093208" cy="64008"/>
          </a:xfrm>
          <a:prstGeom prst="rect">
            <a:avLst/>
          </a:prstGeom>
          <a:solidFill>
            <a:srgbClr val="C7474D"/>
          </a:solidFill>
          <a:ln w="12700">
            <a:solidFill>
              <a:srgbClr val="C74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83664"/>
            <a:ext cx="4727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V24 on SciFact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2322576"/>
            <a:ext cx="472744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488 / 900 synthetic insertions flagged (54.2%).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/ 600 original clean abstracts flagged (20.3%).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364224" y="1728216"/>
            <a:ext cx="509320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728216"/>
            <a:ext cx="5093208" cy="64008"/>
          </a:xfrm>
          <a:prstGeom prst="rect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1883664"/>
            <a:ext cx="4727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comparison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47104" y="2322576"/>
            <a:ext cx="472744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899 / 900 fixed-template insertions flagged.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600 clean abstracts flagged.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does not establish broad robustness.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8952" y="5276088"/>
            <a:ext cx="10661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response: V25 combined existing signals with a reference-relative rule, then froze it before NFCorpus scoring.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493008" y="6016752"/>
            <a:ext cx="5212080" cy="283464"/>
          </a:xfrm>
          <a:prstGeom prst="roundRect">
            <a:avLst>
              <a:gd name="adj" fmla="val 48387"/>
            </a:avLst>
          </a:prstGeom>
          <a:solidFill>
            <a:srgbClr val="FFF1DF"/>
          </a:solidFill>
          <a:ln w="10160">
            <a:solidFill>
              <a:srgbClr val="FFF1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6030468"/>
            <a:ext cx="5065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78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SCIFACT IS NOW DEVELOPMENT EVIDENCE FOR V25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HOLDOUT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V25 flags 493 of 600 NFCorpus synthetic attacks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paired V24 scanner flagged 137 on the same frozen cases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results/v25_nfcorpus_holdout.json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97280" y="1700784"/>
            <a:ext cx="2871216" cy="3749040"/>
          </a:xfrm>
          <a:prstGeom prst="roundRect">
            <a:avLst>
              <a:gd name="adj" fmla="val 3185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1947672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V24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71016" y="256032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22.8%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1271016" y="3319272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/ 600 attacks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71016" y="4105656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7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240 clean flags</a:t>
            </a:r>
            <a:endParaRPr lang="en-US" sz="1570" dirty="0"/>
          </a:p>
        </p:txBody>
      </p:sp>
      <p:sp>
        <p:nvSpPr>
          <p:cNvPr id="14" name="Shape 12"/>
          <p:cNvSpPr/>
          <p:nvPr/>
        </p:nvSpPr>
        <p:spPr>
          <a:xfrm>
            <a:off x="4626864" y="1700784"/>
            <a:ext cx="2871216" cy="3749040"/>
          </a:xfrm>
          <a:prstGeom prst="roundRect">
            <a:avLst>
              <a:gd name="adj" fmla="val 3185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947672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alone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00600" y="256032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82.5%</a:t>
            </a:r>
            <a:endParaRPr lang="en-US" sz="3500" dirty="0"/>
          </a:p>
        </p:txBody>
      </p:sp>
      <p:sp>
        <p:nvSpPr>
          <p:cNvPr id="17" name="Text 15"/>
          <p:cNvSpPr/>
          <p:nvPr/>
        </p:nvSpPr>
        <p:spPr>
          <a:xfrm>
            <a:off x="4800600" y="3319272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495 / 600 attacks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00600" y="4105656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7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240 clean flags</a:t>
            </a:r>
            <a:endParaRPr lang="en-US" sz="1570" dirty="0"/>
          </a:p>
        </p:txBody>
      </p:sp>
      <p:sp>
        <p:nvSpPr>
          <p:cNvPr id="19" name="Shape 17"/>
          <p:cNvSpPr/>
          <p:nvPr/>
        </p:nvSpPr>
        <p:spPr>
          <a:xfrm>
            <a:off x="8156448" y="1700784"/>
            <a:ext cx="2871216" cy="3749040"/>
          </a:xfrm>
          <a:prstGeom prst="roundRect">
            <a:avLst>
              <a:gd name="adj" fmla="val 3185"/>
            </a:avLst>
          </a:prstGeom>
          <a:solidFill>
            <a:srgbClr val="EAF6F1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947672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30184" y="256032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82.2%</a:t>
            </a:r>
            <a:endParaRPr lang="en-US" sz="3500" dirty="0"/>
          </a:p>
        </p:txBody>
      </p:sp>
      <p:sp>
        <p:nvSpPr>
          <p:cNvPr id="22" name="Text 20"/>
          <p:cNvSpPr/>
          <p:nvPr/>
        </p:nvSpPr>
        <p:spPr>
          <a:xfrm>
            <a:off x="8330184" y="3319272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493 / 600 attacks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30184" y="4105656"/>
            <a:ext cx="2523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7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240 clean flags</a:t>
            </a:r>
            <a:endParaRPr lang="en-US" sz="1570" dirty="0"/>
          </a:p>
        </p:txBody>
      </p:sp>
      <p:sp>
        <p:nvSpPr>
          <p:cNvPr id="24" name="Text 22"/>
          <p:cNvSpPr/>
          <p:nvPr/>
        </p:nvSpPr>
        <p:spPr>
          <a:xfrm>
            <a:off x="786384" y="5650992"/>
            <a:ext cx="10625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V25 improves over V24 on these templates. V3 alone is nearly as strong here; the ensemble gains are context dependent.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role-delimiter template remains a clear weakness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fixed insertion templates were all flagged; one family was mostly missed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results/v25_nfcorpus_holdout.json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41832" y="1764792"/>
            <a:ext cx="4262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notice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04765" y="1815084"/>
            <a:ext cx="4364431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04765" y="1815084"/>
            <a:ext cx="4364431" cy="109728"/>
          </a:xfrm>
          <a:prstGeom prst="rect">
            <a:avLst/>
          </a:prstGeom>
          <a:solidFill>
            <a:srgbClr val="08A79F"/>
          </a:solidFill>
          <a:ln w="10160">
            <a:solidFill>
              <a:srgbClr val="08A7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72193" y="1764792"/>
            <a:ext cx="1319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120/120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41832" y="2542032"/>
            <a:ext cx="4262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Forged Q&amp;A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04765" y="2592324"/>
            <a:ext cx="4364431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04765" y="2592324"/>
            <a:ext cx="4364431" cy="109728"/>
          </a:xfrm>
          <a:prstGeom prst="rect">
            <a:avLst/>
          </a:prstGeom>
          <a:solidFill>
            <a:srgbClr val="08A79F"/>
          </a:solidFill>
          <a:ln w="10160">
            <a:solidFill>
              <a:srgbClr val="08A7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72193" y="2542032"/>
            <a:ext cx="1319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120/120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41832" y="3319272"/>
            <a:ext cx="4262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Buried override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204765" y="3369564"/>
            <a:ext cx="4364431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04765" y="3369564"/>
            <a:ext cx="4364431" cy="109728"/>
          </a:xfrm>
          <a:prstGeom prst="rect">
            <a:avLst/>
          </a:prstGeom>
          <a:solidFill>
            <a:srgbClr val="08A79F"/>
          </a:solidFill>
          <a:ln w="10160">
            <a:solidFill>
              <a:srgbClr val="08A7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72193" y="3319272"/>
            <a:ext cx="1319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120/120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41832" y="4096512"/>
            <a:ext cx="4262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key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204765" y="4146804"/>
            <a:ext cx="4364431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4765" y="4146804"/>
            <a:ext cx="4364431" cy="109728"/>
          </a:xfrm>
          <a:prstGeom prst="rect">
            <a:avLst/>
          </a:prstGeom>
          <a:solidFill>
            <a:srgbClr val="08A79F"/>
          </a:solidFill>
          <a:ln w="10160">
            <a:solidFill>
              <a:srgbClr val="08A7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72193" y="4096512"/>
            <a:ext cx="1319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120/120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41832" y="4873752"/>
            <a:ext cx="4262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delimiter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204765" y="4924044"/>
            <a:ext cx="4364431" cy="109728"/>
          </a:xfrm>
          <a:prstGeom prst="rect">
            <a:avLst/>
          </a:prstGeom>
          <a:solidFill>
            <a:srgbClr val="EAF3F6"/>
          </a:solidFill>
          <a:ln w="10160">
            <a:solidFill>
              <a:srgbClr val="EAF3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04765" y="4924044"/>
            <a:ext cx="472813" cy="109728"/>
          </a:xfrm>
          <a:prstGeom prst="rect">
            <a:avLst/>
          </a:prstGeom>
          <a:solidFill>
            <a:srgbClr val="C7474D"/>
          </a:solidFill>
          <a:ln w="10160">
            <a:solidFill>
              <a:srgbClr val="C747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72193" y="4873752"/>
            <a:ext cx="1319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13/120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14984" y="5797296"/>
            <a:ext cx="1007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missed family is a priority for new attacks and independent evaluation, not a threshold to retune on this holdout.</a:t>
            </a:r>
            <a:endParaRPr lang="en-US" sz="16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STRESS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found V23 bypasses across three seeds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fixed and random edits show the result is more than an easy test case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results/v24_ppo_multiseed.json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22376" y="1709928"/>
            <a:ext cx="10725912" cy="512064"/>
          </a:xfrm>
          <a:prstGeom prst="rect">
            <a:avLst/>
          </a:prstGeom>
          <a:solidFill>
            <a:srgbClr val="10283F"/>
          </a:solidFill>
          <a:ln w="10160">
            <a:solidFill>
              <a:srgbClr val="1028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81965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45736" y="18196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/ 75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18196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/ 75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80576" y="18196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/ 75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" y="2231136"/>
            <a:ext cx="10725912" cy="768096"/>
          </a:xfrm>
          <a:prstGeom prst="rect">
            <a:avLst/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44144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20261021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45736" y="2395728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086600" y="2395728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180576" y="2395728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22376" y="2999232"/>
            <a:ext cx="10725912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20954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20261022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45736" y="3163824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086600" y="3163824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180576" y="3163824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722376" y="3767328"/>
            <a:ext cx="10725912" cy="768096"/>
          </a:xfrm>
          <a:prstGeom prst="rect">
            <a:avLst/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97764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20261023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745736" y="3931920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7086600" y="3931920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9180576" y="3931920"/>
            <a:ext cx="1600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300" dirty="0"/>
          </a:p>
        </p:txBody>
      </p:sp>
      <p:sp>
        <p:nvSpPr>
          <p:cNvPr id="29" name="Shape 27"/>
          <p:cNvSpPr/>
          <p:nvPr/>
        </p:nvSpPr>
        <p:spPr>
          <a:xfrm>
            <a:off x="996696" y="5010912"/>
            <a:ext cx="10177272" cy="886968"/>
          </a:xfrm>
          <a:prstGeom prst="roundRect">
            <a:avLst>
              <a:gd name="adj" fmla="val 10309"/>
            </a:avLst>
          </a:prstGeom>
          <a:solidFill>
            <a:srgbClr val="EAF6F1"/>
          </a:solidFill>
          <a:ln w="10160">
            <a:solidFill>
              <a:srgbClr val="B5DC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52728" y="5248656"/>
            <a:ext cx="9665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V24 known-ID replay: 0 / 75 for each same frozen PPO text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ANSWER-PATH REPLAY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fixed a newly inserted document failure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revised gate was designed after the first replay exposed the failure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results/v24_answer_path_validation*.json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04088" y="1700784"/>
            <a:ext cx="5202936" cy="1755648"/>
          </a:xfrm>
          <a:prstGeom prst="roundRect">
            <a:avLst>
              <a:gd name="adj" fmla="val 5208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V24 integration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05256" y="2322576"/>
            <a:ext cx="22768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/ 300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127248" y="2487168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Attack-sourced target answers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63640" y="1700784"/>
            <a:ext cx="5202936" cy="1755648"/>
          </a:xfrm>
          <a:prstGeom prst="roundRect">
            <a:avLst>
              <a:gd name="adj" fmla="val 5208"/>
            </a:avLst>
          </a:prstGeom>
          <a:solidFill>
            <a:srgbClr val="EAF6F1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883664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admitted-source replay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808" y="2322576"/>
            <a:ext cx="22768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8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300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86800" y="2487168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Attack-sourced target answers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704088" y="3776472"/>
            <a:ext cx="5202936" cy="1755648"/>
          </a:xfrm>
          <a:prstGeom prst="roundRect">
            <a:avLst>
              <a:gd name="adj" fmla="val 5208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959352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alias recovery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5256" y="4398264"/>
            <a:ext cx="22768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/ 300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127248" y="4562856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Known-answer aliases restored</a:t>
            </a:r>
            <a:endParaRPr lang="en-US" sz="1430" dirty="0"/>
          </a:p>
        </p:txBody>
      </p:sp>
      <p:sp>
        <p:nvSpPr>
          <p:cNvPr id="21" name="Shape 19"/>
          <p:cNvSpPr/>
          <p:nvPr/>
        </p:nvSpPr>
        <p:spPr>
          <a:xfrm>
            <a:off x="6263640" y="3776472"/>
            <a:ext cx="5202936" cy="1755648"/>
          </a:xfrm>
          <a:prstGeom prst="roundRect">
            <a:avLst>
              <a:gd name="adj" fmla="val 5208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3959352"/>
            <a:ext cx="4754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Abstention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64808" y="4398264"/>
            <a:ext cx="22768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/ 300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686800" y="4562856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answer under the stricter policy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841248" y="5934456"/>
            <a:ext cx="10533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replay on inspected validation questions. The answerer is extractive, and the reference is supplied by the benchmark.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DEPTH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is reproducible down to case and artifact hashes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a demo: the repository preserves the path from data to decision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README.md; DEPLOY_V25.md; results/v25_rule_frozen.json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1792224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96796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43584" y="163677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manifests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416552" y="1636776"/>
            <a:ext cx="6693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1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source archives, row hashes and split counts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749808" y="2359152"/>
            <a:ext cx="10570464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49808" y="2651760"/>
            <a:ext cx="338328" cy="338328"/>
          </a:xfrm>
          <a:prstGeom prst="ellipse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656332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43584" y="249631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artifacts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416552" y="2496312"/>
            <a:ext cx="6693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1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MiniLM, signal model, fluency model and calibration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749808" y="3218688"/>
            <a:ext cx="10570464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9808" y="3511296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515868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43584" y="3355848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traces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4416552" y="3355848"/>
            <a:ext cx="6693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1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Per-passage predictions and paired answer replays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749808" y="4078224"/>
            <a:ext cx="10570464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49808" y="4370832"/>
            <a:ext cx="338328" cy="338328"/>
          </a:xfrm>
          <a:prstGeom prst="ellipse">
            <a:avLst/>
          </a:prstGeom>
          <a:solidFill>
            <a:srgbClr val="17639B"/>
          </a:solidFill>
          <a:ln w="12700">
            <a:solidFill>
              <a:srgbClr val="1763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375404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43584" y="421538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tests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4416552" y="4215384"/>
            <a:ext cx="6693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1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admission, near-copy and V25 behavior tests</a:t>
            </a:r>
            <a:endParaRPr lang="en-US" sz="1610" dirty="0"/>
          </a:p>
        </p:txBody>
      </p:sp>
      <p:sp>
        <p:nvSpPr>
          <p:cNvPr id="28" name="Shape 26"/>
          <p:cNvSpPr/>
          <p:nvPr/>
        </p:nvSpPr>
        <p:spPr>
          <a:xfrm>
            <a:off x="749808" y="4937760"/>
            <a:ext cx="10570464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749808" y="5230368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234940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43584" y="5074920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checks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4416552" y="5074920"/>
            <a:ext cx="6693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1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build, status endpoints and frozen evidence binding</a:t>
            </a:r>
            <a:endParaRPr lang="en-US" sz="161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NEXT 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remaining work is well defined by failure cases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show the limits because they direct the next defensible experiment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V25_RESEARCH_RELEASE.md; V24_RESEARCH_RELEASE.md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4944" y="1609344"/>
            <a:ext cx="10780776" cy="868680"/>
          </a:xfrm>
          <a:prstGeom prst="roundRect">
            <a:avLst>
              <a:gd name="adj" fmla="val 10526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755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Role-delimiter evasion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28416" y="172821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13/120 on NFCorpus fixed templates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6419088" y="1728216"/>
            <a:ext cx="4709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broader unseen attack families; freeze a new domain before tuning</a:t>
            </a:r>
            <a:endParaRPr lang="en-US" sz="1460" dirty="0"/>
          </a:p>
        </p:txBody>
      </p:sp>
      <p:sp>
        <p:nvSpPr>
          <p:cNvPr id="13" name="Shape 11"/>
          <p:cNvSpPr/>
          <p:nvPr/>
        </p:nvSpPr>
        <p:spPr>
          <a:xfrm>
            <a:off x="694944" y="2688336"/>
            <a:ext cx="10780776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834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authentication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28416" y="28072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qrels select references in studies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6419088" y="2807208"/>
            <a:ext cx="4709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operator-reviewed source enrollment for open deployment</a:t>
            </a:r>
            <a:endParaRPr lang="en-US" sz="1460" dirty="0"/>
          </a:p>
        </p:txBody>
      </p:sp>
      <p:sp>
        <p:nvSpPr>
          <p:cNvPr id="17" name="Shape 15"/>
          <p:cNvSpPr/>
          <p:nvPr/>
        </p:nvSpPr>
        <p:spPr>
          <a:xfrm>
            <a:off x="694944" y="3767328"/>
            <a:ext cx="10780776" cy="868680"/>
          </a:xfrm>
          <a:prstGeom prst="roundRect">
            <a:avLst>
              <a:gd name="adj" fmla="val 10526"/>
            </a:avLst>
          </a:prstGeom>
          <a:solidFill>
            <a:srgbClr val="F2F7F9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913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quality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28416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screening is not answer correctness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6419088" y="3886200"/>
            <a:ext cx="4709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answer utility with stronger readers and verified citations</a:t>
            </a:r>
            <a:endParaRPr lang="en-US" sz="1460" dirty="0"/>
          </a:p>
        </p:txBody>
      </p:sp>
      <p:sp>
        <p:nvSpPr>
          <p:cNvPr id="21" name="Shape 19"/>
          <p:cNvSpPr/>
          <p:nvPr/>
        </p:nvSpPr>
        <p:spPr>
          <a:xfrm>
            <a:off x="694944" y="4846320"/>
            <a:ext cx="10780776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C9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9926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documents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328416" y="49651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C74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Known-ID hashes cannot check unseen IDs</a:t>
            </a:r>
            <a:endParaRPr lang="en-US" sz="1460" dirty="0"/>
          </a:p>
        </p:txBody>
      </p:sp>
      <p:sp>
        <p:nvSpPr>
          <p:cNvPr id="24" name="Text 22"/>
          <p:cNvSpPr/>
          <p:nvPr/>
        </p:nvSpPr>
        <p:spPr>
          <a:xfrm>
            <a:off x="6419088" y="4965192"/>
            <a:ext cx="4709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independent provenance and admission workflows</a:t>
            </a:r>
            <a:endParaRPr lang="en-US" sz="146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08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REVIEW ROUTE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50" b="1" dirty="0">
                <a:solidFill>
                  <a:srgbClr val="10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Four-minute mentor walkthrough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demo path that connects UI behavior to saved measurements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C9D7D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76072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  /  REVIEW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6492240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DEMO_SCRIPT.md; DEPLOY_V25.md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37392" y="648309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1755648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760220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71016" y="1645920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stealth accepted-ingest case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18888" y="162763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retrieved passage, source span and why hash verification is insufficient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786384" y="2459736"/>
            <a:ext cx="10552176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8952" y="2834640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839212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1016" y="272491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to edited-after-indexing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18888" y="2706624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mismatch and quarantine under the clean manifest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786384" y="3538728"/>
            <a:ext cx="10552176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8952" y="3913632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918204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71016" y="380390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V25 scanner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18888" y="3785616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 published example; compare review reasons with V24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786384" y="4617720"/>
            <a:ext cx="10552176" cy="0"/>
          </a:xfrm>
          <a:prstGeom prst="line">
            <a:avLst/>
          </a:prstGeom>
          <a:noFill/>
          <a:ln w="8890">
            <a:solidFill>
              <a:srgbClr val="C9D7DE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58952" y="4992624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997196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71016" y="4882896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frozen evidence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18888" y="486460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5E7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NFCorpus holdout, role-delimiter miss and case trace</a:t>
            </a:r>
            <a:endParaRPr lang="en-US" sz="1520" dirty="0"/>
          </a:p>
        </p:txBody>
      </p:sp>
      <p:sp>
        <p:nvSpPr>
          <p:cNvPr id="28" name="Text 26">
            <a:hlinkClick r:id="rId3"/>
          </p:cNvPr>
          <p:cNvSpPr/>
          <p:nvPr/>
        </p:nvSpPr>
        <p:spPr>
          <a:xfrm>
            <a:off x="804672" y="5934456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u="sng" dirty="0">
                <a:solidFill>
                  <a:srgbClr val="17639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deployed console</a:t>
            </a:r>
            <a:endParaRPr lang="en-US" sz="14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5696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5D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RAG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61288"/>
            <a:ext cx="10012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evidence supports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76856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1428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3584" y="2176272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system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462272" y="2167128"/>
            <a:ext cx="68762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D7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workbench, scanner, source admission and traceable answers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31520" y="3300984"/>
            <a:ext cx="338328" cy="338328"/>
          </a:xfrm>
          <a:prstGeom prst="ellipse">
            <a:avLst/>
          </a:prstGeom>
          <a:solidFill>
            <a:srgbClr val="08A79F"/>
          </a:solidFill>
          <a:ln w="12700">
            <a:solidFill>
              <a:srgbClr val="08A7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05556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43584" y="3200400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measured gain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62272" y="3191256"/>
            <a:ext cx="68762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D7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V25 flags 493/600 synthetic NFCorpus attacks with 14/240 clean flags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31520" y="4325112"/>
            <a:ext cx="338328" cy="338328"/>
          </a:xfrm>
          <a:prstGeom prst="ellipse">
            <a:avLst/>
          </a:prstGeom>
          <a:solidFill>
            <a:srgbClr val="C7474D"/>
          </a:solidFill>
          <a:ln w="12700">
            <a:solidFill>
              <a:srgbClr val="C74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29684"/>
            <a:ext cx="338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43584" y="4224528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boundary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462272" y="4215384"/>
            <a:ext cx="68762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dirty="0">
                <a:solidFill>
                  <a:srgbClr val="D7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Role-delimiter evasions, reference authentication and answer utility remain open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04088" y="5413248"/>
            <a:ext cx="10661904" cy="0"/>
          </a:xfrm>
          <a:prstGeom prst="line">
            <a:avLst/>
          </a:prstGeom>
          <a:noFill/>
          <a:ln w="11430">
            <a:solidFill>
              <a:srgbClr val="45677D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49808" y="5586984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5D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project evidence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47288" y="5577840"/>
            <a:ext cx="7946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C5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V25_RESEARCH_RELEASE.md  •  PRODUCT_V24.md  •  results/v25_nfcorpus_holdout.json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749808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3596</Words>
  <Application>Microsoft Office PowerPoint</Application>
  <PresentationFormat>Widescreen</PresentationFormat>
  <Paragraphs>653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BMS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RAG | Review 2</dc:title>
  <dc:subject>BMSCE Review 2: RAG poisoning research and implementation</dc:subject>
  <dc:creator>Sentinel RAG project team</dc:creator>
  <cp:lastModifiedBy>Tanmay Sachan</cp:lastModifiedBy>
  <cp:revision>1</cp:revision>
  <dcterms:created xsi:type="dcterms:W3CDTF">2026-10-20T13:06:39Z</dcterms:created>
  <dcterms:modified xsi:type="dcterms:W3CDTF">2026-10-20T13:06:44Z</dcterms:modified>
</cp:coreProperties>
</file>